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be.com" TargetMode="External"/><Relationship Id="rId5" Type="http://schemas.openxmlformats.org/officeDocument/2006/relationships/hyperlink" Target="https://github.com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005.11401" TargetMode="External"/><Relationship Id="rId13" Type="http://schemas.openxmlformats.org/officeDocument/2006/relationships/hyperlink" Target="https://fssai.gov.in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ipindia.gov.in" TargetMode="External"/><Relationship Id="rId12" Type="http://schemas.openxmlformats.org/officeDocument/2006/relationships/hyperlink" Target="https://investindia.gov.i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baindia.org" TargetMode="External"/><Relationship Id="rId11" Type="http://schemas.openxmlformats.org/officeDocument/2006/relationships/hyperlink" Target="https://tkdl.res.in" TargetMode="External"/><Relationship Id="rId5" Type="http://schemas.openxmlformats.org/officeDocument/2006/relationships/hyperlink" Target="https://www.wipo.int/treaties/en/ip/gratk/" TargetMode="External"/><Relationship Id="rId15" Type="http://schemas.openxmlformats.org/officeDocument/2006/relationships/hyperlink" Target="https://aiia.gov.in" TargetMode="External"/><Relationship Id="rId10" Type="http://schemas.openxmlformats.org/officeDocument/2006/relationships/hyperlink" Target="https://bhashini.gov.in" TargetMode="External"/><Relationship Id="rId4" Type="http://schemas.openxmlformats.org/officeDocument/2006/relationships/hyperlink" Target="https://ayush.gov.in" TargetMode="External"/><Relationship Id="rId9" Type="http://schemas.openxmlformats.org/officeDocument/2006/relationships/hyperlink" Target="https://arxiv.org/abs/2309.08632" TargetMode="External"/><Relationship Id="rId14" Type="http://schemas.openxmlformats.org/officeDocument/2006/relationships/hyperlink" Target="https://indiacode.ni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093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endParaRPr lang="en-US" dirty="0"/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Problem Statement ID: 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26045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Problem Statement Title: 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IP-SAKTI </a:t>
            </a:r>
            <a:r>
              <a:rPr sz="1300" b="0" dirty="0" err="1">
                <a:solidFill>
                  <a:srgbClr val="0F172A"/>
                </a:solidFill>
                <a:latin typeface="Arial"/>
              </a:rPr>
              <a:t>Sahayak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: A Multilingual, RAG-Based (Source-Cited) AI Assistant for Intellectual Property &amp; Regulatory Guidance in Ayurveda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Theme: 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MedTech / </a:t>
            </a:r>
            <a:r>
              <a:rPr sz="1300" b="0" dirty="0" err="1">
                <a:solidFill>
                  <a:srgbClr val="0F172A"/>
                </a:solidFill>
                <a:latin typeface="Arial"/>
              </a:rPr>
              <a:t>BioTech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 / HealthTech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PS Category: 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Organization: 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Ministry of Ayush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Department: 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All India Institute of Ayurveda (AIIA)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Team ID: </a:t>
            </a:r>
            <a:r>
              <a:rPr sz="1300" b="0" dirty="0">
                <a:solidFill>
                  <a:srgbClr val="0F172A"/>
                </a:solidFill>
                <a:latin typeface="Arial"/>
              </a:rPr>
              <a:t>[Your Team ID]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00" b="1" dirty="0">
                <a:solidFill>
                  <a:srgbClr val="0F2942"/>
                </a:solidFill>
                <a:latin typeface="Arial"/>
              </a:rPr>
              <a:t>Team Name: </a:t>
            </a:r>
            <a:r>
              <a:rPr lang="en-IN" sz="1300" dirty="0">
                <a:solidFill>
                  <a:srgbClr val="0F172A"/>
                </a:solidFill>
                <a:latin typeface="Arial"/>
              </a:rPr>
              <a:t>Lethal Christ</a:t>
            </a:r>
            <a:endParaRPr sz="1300" b="0" dirty="0">
              <a:solidFill>
                <a:srgbClr val="0F172A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822960"/>
          </a:xfrm>
        </p:spPr>
        <p:txBody>
          <a:bodyPr wrap="square"/>
          <a:lstStyle/>
          <a:p>
            <a:pPr algn="ctr" eaLnBrk="1" hangingPunct="1">
              <a:defRPr sz="1650" b="1">
                <a:solidFill>
                  <a:srgbClr val="0F2942"/>
                </a:solidFill>
                <a:latin typeface="Arial"/>
              </a:defRPr>
            </a:pPr>
            <a:r>
              <a:rPr dirty="0"/>
              <a:t>IP-SAKTI </a:t>
            </a:r>
            <a:r>
              <a:rPr dirty="0" err="1"/>
              <a:t>Sahayak</a:t>
            </a:r>
            <a:r>
              <a:rPr dirty="0"/>
              <a:t>: Multilingual RAG &amp; Knowledge Graph for Ayurvedic IPR &amp; Regulations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942"/>
                </a:solidFill>
                <a:latin typeface="Arial"/>
              </a:defRPr>
            </a:pPr>
            <a:r>
              <a:rPr lang="en-IN" dirty="0"/>
              <a:t>Lethal Christ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57200" y="1143000"/>
            <a:ext cx="539496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Rounded Rectangle 15362"/>
          <p:cNvSpPr/>
          <p:nvPr/>
        </p:nvSpPr>
        <p:spPr>
          <a:xfrm>
            <a:off x="457200" y="1143000"/>
            <a:ext cx="5394960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600" dirty="0">
                <a:latin typeface="Centaur" panose="02030504050205020304" pitchFamily="18" charset="0"/>
              </a:rPr>
              <a:t>PROBLEM STATEMENT 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594360" y="1636458"/>
            <a:ext cx="5303520" cy="1563441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Multi-Regime Complexity: </a:t>
            </a:r>
            <a:r>
              <a:rPr sz="1000" dirty="0">
                <a:solidFill>
                  <a:srgbClr val="334155"/>
                </a:solidFill>
                <a:latin typeface="Arial"/>
              </a:rPr>
              <a:t>Ayurvedic products cross Patents, GI, Trademarks, Biodiversity Act (2023/24), and Drug/Food regimes (D&amp;C Act, FSSAI Ayurveda-</a:t>
            </a:r>
            <a:r>
              <a:rPr sz="1000" dirty="0" err="1">
                <a:solidFill>
                  <a:srgbClr val="334155"/>
                </a:solidFill>
                <a:latin typeface="Arial"/>
              </a:rPr>
              <a:t>Aahar</a:t>
            </a:r>
            <a:r>
              <a:rPr sz="1000" dirty="0">
                <a:solidFill>
                  <a:srgbClr val="334155"/>
                </a:solidFill>
                <a:latin typeface="Arial"/>
              </a:rPr>
              <a:t>).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Section 3(p) &amp; Biopiracy: </a:t>
            </a:r>
            <a:r>
              <a:rPr sz="1000" dirty="0">
                <a:solidFill>
                  <a:srgbClr val="334155"/>
                </a:solidFill>
                <a:latin typeface="Arial"/>
              </a:rPr>
              <a:t>Classical formulations face patent bars defended by TKDL, while genuine novel extracts lack patent clarity, risking rejection or foreign misappropriation.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Severe ABS Non-Compliance: </a:t>
            </a:r>
            <a:r>
              <a:rPr sz="1000" dirty="0">
                <a:solidFill>
                  <a:srgbClr val="334155"/>
                </a:solidFill>
                <a:latin typeface="Arial"/>
              </a:rPr>
              <a:t>Over 65% of AYUSH MSMEs and practitioners struggle to navigate Access and Benefit Sharing with the National Biodiversity Authority (NBA).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Generic LLM Hallucinations: </a:t>
            </a:r>
            <a:r>
              <a:rPr sz="1000" dirty="0">
                <a:solidFill>
                  <a:srgbClr val="334155"/>
                </a:solidFill>
                <a:latin typeface="Arial"/>
              </a:rPr>
              <a:t>Standard AI fabricates legal statutes, invents case law, and conflates Indian laws with US/EU international market rules.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035040" y="1143000"/>
            <a:ext cx="5696712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Rounded Rectangle 15365"/>
          <p:cNvSpPr/>
          <p:nvPr/>
        </p:nvSpPr>
        <p:spPr>
          <a:xfrm>
            <a:off x="6035040" y="1143000"/>
            <a:ext cx="5696712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OUR IDEA &amp; VALUE PROPOSITION 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126480" y="1676084"/>
            <a:ext cx="5605272" cy="1426865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 dirty="0">
                <a:solidFill>
                  <a:srgbClr val="1D4ED8"/>
                </a:solidFill>
                <a:latin typeface="Arial"/>
              </a:rPr>
              <a:t>• Authoritative Domain AI: </a:t>
            </a:r>
            <a:r>
              <a:rPr sz="900" dirty="0">
                <a:solidFill>
                  <a:srgbClr val="334155"/>
                </a:solidFill>
                <a:latin typeface="Arial"/>
              </a:rPr>
              <a:t>IP-SAKTI </a:t>
            </a:r>
            <a:r>
              <a:rPr sz="900" dirty="0" err="1">
                <a:solidFill>
                  <a:srgbClr val="334155"/>
                </a:solidFill>
                <a:latin typeface="Arial"/>
              </a:rPr>
              <a:t>Sahayak</a:t>
            </a:r>
            <a:r>
              <a:rPr sz="900" dirty="0">
                <a:solidFill>
                  <a:srgbClr val="334155"/>
                </a:solidFill>
                <a:latin typeface="Arial"/>
              </a:rPr>
              <a:t> is a specialized bilingual AI assistant powered by Constrained RAG (Retrieval-Augmented Generation) coupled with an Ayurvedic Legal Knowledge Graph.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 dirty="0">
                <a:solidFill>
                  <a:srgbClr val="1D4ED8"/>
                </a:solidFill>
                <a:latin typeface="Arial"/>
              </a:rPr>
              <a:t>• Deterministic Formulation Classifier: </a:t>
            </a:r>
            <a:r>
              <a:rPr sz="900" dirty="0">
                <a:solidFill>
                  <a:srgbClr val="334155"/>
                </a:solidFill>
                <a:latin typeface="Arial"/>
              </a:rPr>
              <a:t>Guides innovators through a 3-question decision tree to classify products into Classical, Proprietary, Phytopharmaceutical, </a:t>
            </a:r>
            <a:r>
              <a:rPr sz="900" dirty="0" err="1">
                <a:solidFill>
                  <a:srgbClr val="334155"/>
                </a:solidFill>
                <a:latin typeface="Arial"/>
              </a:rPr>
              <a:t>Aahar</a:t>
            </a:r>
            <a:r>
              <a:rPr sz="900" dirty="0">
                <a:solidFill>
                  <a:srgbClr val="334155"/>
                </a:solidFill>
                <a:latin typeface="Arial"/>
              </a:rPr>
              <a:t>, or Cosmetic.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 dirty="0">
                <a:solidFill>
                  <a:srgbClr val="1D4ED8"/>
                </a:solidFill>
                <a:latin typeface="Arial"/>
              </a:rPr>
              <a:t>• Dual-Jurisdiction Partitioning: </a:t>
            </a:r>
            <a:r>
              <a:rPr sz="900" dirty="0">
                <a:solidFill>
                  <a:srgbClr val="334155"/>
                </a:solidFill>
                <a:latin typeface="Arial"/>
              </a:rPr>
              <a:t>Features a visible switch separating Indian National Laws (Patents Act 2024, BDA 2023) from International Treaties (WIPO GRATK 2024, PCT, Nagoya Protocol).</a:t>
            </a:r>
          </a:p>
          <a:p>
            <a:pPr>
              <a:lnSpc>
                <a:spcPct val="112000"/>
              </a:lnSpc>
              <a:spcAft>
                <a:spcPts val="250"/>
              </a:spcAft>
            </a:pPr>
            <a:r>
              <a:rPr sz="900" b="1" dirty="0">
                <a:solidFill>
                  <a:srgbClr val="1D4ED8"/>
                </a:solidFill>
                <a:latin typeface="Arial"/>
              </a:rPr>
              <a:t>• Zero-Hallucination Source Citations: </a:t>
            </a:r>
            <a:r>
              <a:rPr sz="900" dirty="0">
                <a:solidFill>
                  <a:srgbClr val="334155"/>
                </a:solidFill>
                <a:latin typeface="Arial"/>
              </a:rPr>
              <a:t>Every answer is grounded in version-tracked official corpuses with exact statute, section, and rule numbers, backed by human facilitator escalation.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57200" y="3520440"/>
            <a:ext cx="3931920" cy="2697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3520440"/>
            <a:ext cx="3931920" cy="329184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PROPOSED SOLUTION ARCHITECTURE 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601979" y="3995610"/>
            <a:ext cx="3642361" cy="171733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Classification Engine: </a:t>
            </a:r>
            <a:r>
              <a:rPr sz="1000" dirty="0">
                <a:solidFill>
                  <a:srgbClr val="334155"/>
                </a:solidFill>
                <a:latin typeface="Arial"/>
              </a:rPr>
              <a:t>Maps Ayurvedic recipes to statutory definitions (D&amp;C Act First Schedule vs Novel Extracts).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Dual-Stream RAG: </a:t>
            </a:r>
            <a:r>
              <a:rPr sz="1000" dirty="0">
                <a:solidFill>
                  <a:srgbClr val="334155"/>
                </a:solidFill>
                <a:latin typeface="Arial"/>
              </a:rPr>
              <a:t>Separately queries National Gazette laws vs International IP treaties without cross-contamination.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Automated ABS Navigator: </a:t>
            </a:r>
            <a:r>
              <a:rPr sz="1000" dirty="0">
                <a:solidFill>
                  <a:srgbClr val="334155"/>
                </a:solidFill>
                <a:latin typeface="Arial"/>
              </a:rPr>
              <a:t>Detects bio-resources and directs users to exact NBA Forms (1 to 4) and benefit-sharing rules.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0F2942"/>
                </a:solidFill>
                <a:latin typeface="Arial"/>
              </a:rPr>
              <a:t>• Bhashini Multilingual Layer: </a:t>
            </a:r>
            <a:r>
              <a:rPr sz="1000" dirty="0">
                <a:solidFill>
                  <a:srgbClr val="334155"/>
                </a:solidFill>
                <a:latin typeface="Arial"/>
              </a:rPr>
              <a:t>Enables voice and text in 12+ Indic languages for rural practitioners, </a:t>
            </a:r>
            <a:r>
              <a:rPr sz="1000" dirty="0" err="1">
                <a:solidFill>
                  <a:srgbClr val="334155"/>
                </a:solidFill>
                <a:latin typeface="Arial"/>
              </a:rPr>
              <a:t>vaidyas</a:t>
            </a:r>
            <a:r>
              <a:rPr sz="1000" dirty="0">
                <a:solidFill>
                  <a:srgbClr val="334155"/>
                </a:solidFill>
                <a:latin typeface="Arial"/>
              </a:rPr>
              <a:t>, and cultivators.</a:t>
            </a:r>
          </a:p>
        </p:txBody>
      </p:sp>
      <p:pic>
        <p:nvPicPr>
          <p:cNvPr id="15371" name="Picture 15370" descr="product_concept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3520440"/>
            <a:ext cx="3383280" cy="2697480"/>
          </a:xfrm>
          <a:prstGeom prst="rect">
            <a:avLst/>
          </a:prstGeom>
        </p:spPr>
      </p:pic>
      <p:sp>
        <p:nvSpPr>
          <p:cNvPr id="15372" name="Rounded Rectangle 15371"/>
          <p:cNvSpPr/>
          <p:nvPr/>
        </p:nvSpPr>
        <p:spPr>
          <a:xfrm>
            <a:off x="8046720" y="3520440"/>
            <a:ext cx="3685032" cy="2407687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3" name="Rounded Rectangle 15372"/>
          <p:cNvSpPr/>
          <p:nvPr/>
        </p:nvSpPr>
        <p:spPr>
          <a:xfrm>
            <a:off x="8046720" y="3520440"/>
            <a:ext cx="3685032" cy="329184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INNOVATION &amp; UNIQUENESS 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138160" y="4081787"/>
            <a:ext cx="3593592" cy="1544975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15803D"/>
                </a:solidFill>
                <a:latin typeface="Arial"/>
              </a:rPr>
              <a:t>• Coupled Regulatory-IP Logic: </a:t>
            </a:r>
            <a:r>
              <a:rPr sz="1000" dirty="0">
                <a:solidFill>
                  <a:srgbClr val="334155"/>
                </a:solidFill>
                <a:latin typeface="Arial"/>
              </a:rPr>
              <a:t>First tool linking drug/food formulation status directly to patentability &amp; ABS liability.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15803D"/>
                </a:solidFill>
                <a:latin typeface="Arial"/>
              </a:rPr>
              <a:t>• Architectural Air-Gap: </a:t>
            </a:r>
            <a:r>
              <a:rPr sz="1000" dirty="0">
                <a:solidFill>
                  <a:srgbClr val="334155"/>
                </a:solidFill>
                <a:latin typeface="Arial"/>
              </a:rPr>
              <a:t>Hard physical separation between India &amp; Global context prevents jurisdictional hallucination.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15803D"/>
                </a:solidFill>
                <a:latin typeface="Arial"/>
              </a:rPr>
              <a:t>• Multi-Hop Legal Graph: </a:t>
            </a:r>
            <a:r>
              <a:rPr sz="1000" dirty="0">
                <a:solidFill>
                  <a:srgbClr val="334155"/>
                </a:solidFill>
                <a:latin typeface="Arial"/>
              </a:rPr>
              <a:t>Neo4j graph connects 14+ statutes, 2024 Patent/Biodiversity rules, and TKDL prior art.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00" b="1" dirty="0">
                <a:solidFill>
                  <a:srgbClr val="15803D"/>
                </a:solidFill>
                <a:latin typeface="Arial"/>
              </a:rPr>
              <a:t>• Inclusive Rural Empowerment: </a:t>
            </a:r>
            <a:r>
              <a:rPr sz="1000" dirty="0">
                <a:solidFill>
                  <a:srgbClr val="334155"/>
                </a:solidFill>
                <a:latin typeface="Arial"/>
              </a:rPr>
              <a:t>Voice-first Indic interface bridges the digital divide for 500,000+ traditional </a:t>
            </a:r>
            <a:r>
              <a:rPr sz="1000" dirty="0" err="1">
                <a:solidFill>
                  <a:srgbClr val="334155"/>
                </a:solidFill>
                <a:latin typeface="Arial"/>
              </a:rPr>
              <a:t>Vaidyas</a:t>
            </a:r>
            <a:r>
              <a:rPr sz="900" dirty="0">
                <a:solidFill>
                  <a:srgbClr val="334155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822960"/>
          </a:xfrm>
        </p:spPr>
        <p:txBody>
          <a:bodyPr/>
          <a:lstStyle/>
          <a:p>
            <a:pPr algn="ctr" eaLnBrk="1" hangingPunct="1">
              <a:defRPr sz="1700" b="1">
                <a:solidFill>
                  <a:srgbClr val="0F2942"/>
                </a:solidFill>
                <a:latin typeface="Arial"/>
              </a:defRPr>
            </a:pPr>
            <a:r>
              <a:rPr dirty="0"/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942"/>
                </a:solidFill>
                <a:latin typeface="Arial"/>
              </a:defRPr>
            </a:pPr>
            <a:r>
              <a:rPr lang="en-IN" dirty="0"/>
              <a:t>Lethal Christ</a:t>
            </a:r>
            <a:endParaRPr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3931920" cy="5074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43000"/>
            <a:ext cx="3931920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ARCHITECTURE &amp; TECH STACK 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490472"/>
            <a:ext cx="3840480" cy="4357283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Frontend &amp; Voice Layer: </a:t>
            </a:r>
            <a:r>
              <a:rPr sz="1100" dirty="0">
                <a:solidFill>
                  <a:srgbClr val="334155"/>
                </a:solidFill>
                <a:latin typeface="Arial"/>
              </a:rPr>
              <a:t>Next.js 14, React, Tailwind CSS, Mobile PWA. Bhashini Indic Voice STT/TTS (12+ Indian languages).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Backend &amp; API Gateway: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FastAPI</a:t>
            </a:r>
            <a:r>
              <a:rPr sz="1100" dirty="0">
                <a:solidFill>
                  <a:srgbClr val="334155"/>
                </a:solidFill>
                <a:latin typeface="Arial"/>
              </a:rPr>
              <a:t> (Python 3.11),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Pydantic</a:t>
            </a:r>
            <a:r>
              <a:rPr sz="1100" dirty="0">
                <a:solidFill>
                  <a:srgbClr val="334155"/>
                </a:solidFill>
                <a:latin typeface="Arial"/>
              </a:rPr>
              <a:t> v2 schemas for strict JSON validation, Redis for session caching.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Hybrid Retrieval Engine: </a:t>
            </a:r>
            <a:r>
              <a:rPr sz="1100" dirty="0">
                <a:solidFill>
                  <a:srgbClr val="334155"/>
                </a:solidFill>
                <a:latin typeface="Arial"/>
              </a:rPr>
              <a:t>Dense embeddings (BGE-M3 /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IndicBERT</a:t>
            </a:r>
            <a:r>
              <a:rPr sz="1100" dirty="0">
                <a:solidFill>
                  <a:srgbClr val="334155"/>
                </a:solidFill>
                <a:latin typeface="Arial"/>
              </a:rPr>
              <a:t>) + Sparse BM25 keyword matching via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Qdrant</a:t>
            </a:r>
            <a:r>
              <a:rPr sz="1100" dirty="0">
                <a:solidFill>
                  <a:srgbClr val="334155"/>
                </a:solidFill>
                <a:latin typeface="Arial"/>
              </a:rPr>
              <a:t> Vector DB.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Ayush Knowledge Graph: </a:t>
            </a:r>
            <a:r>
              <a:rPr sz="1100" dirty="0">
                <a:solidFill>
                  <a:srgbClr val="334155"/>
                </a:solidFill>
                <a:latin typeface="Arial"/>
              </a:rPr>
              <a:t>Neo4j Graph Database mapping 14+ statutes, Gazette 2024 rules, and TKDL prior art with multi-hop reasoning.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Constrained LLM Reasoning: </a:t>
            </a:r>
            <a:r>
              <a:rPr sz="1100" dirty="0">
                <a:solidFill>
                  <a:srgbClr val="334155"/>
                </a:solidFill>
                <a:latin typeface="Arial"/>
              </a:rPr>
              <a:t>Quantized Llama-3-70B / Mistral / Gemini 1.5 Flash via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vLLM</a:t>
            </a:r>
            <a:r>
              <a:rPr sz="1100" dirty="0">
                <a:solidFill>
                  <a:srgbClr val="334155"/>
                </a:solidFill>
                <a:latin typeface="Arial"/>
              </a:rPr>
              <a:t>;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NeMo</a:t>
            </a:r>
            <a:r>
              <a:rPr sz="1100" dirty="0">
                <a:solidFill>
                  <a:srgbClr val="334155"/>
                </a:solidFill>
                <a:latin typeface="Arial"/>
              </a:rPr>
              <a:t> Guardrails for anti-hallucination &amp; source validation.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Curated Statutory Corpus: </a:t>
            </a:r>
            <a:r>
              <a:rPr sz="1100" dirty="0">
                <a:solidFill>
                  <a:srgbClr val="334155"/>
                </a:solidFill>
                <a:latin typeface="Arial"/>
              </a:rPr>
              <a:t>Automated scrapers for India Code,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InPASS</a:t>
            </a:r>
            <a:r>
              <a:rPr sz="1100" dirty="0">
                <a:solidFill>
                  <a:srgbClr val="334155"/>
                </a:solidFill>
                <a:latin typeface="Arial"/>
              </a:rPr>
              <a:t> (IP India), NBA India, and WIPO GRATK Treaty (2024).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Privacy &amp; DPDP Compliance: </a:t>
            </a:r>
            <a:r>
              <a:rPr sz="1100" dirty="0">
                <a:solidFill>
                  <a:srgbClr val="334155"/>
                </a:solidFill>
                <a:latin typeface="Arial"/>
              </a:rPr>
              <a:t>Zero retention of proprietary formulation data, encrypted session storage, and SHA-256 audit logging.</a:t>
            </a:r>
          </a:p>
        </p:txBody>
      </p:sp>
      <p:pic>
        <p:nvPicPr>
          <p:cNvPr id="17413" name="Picture 17412" descr="architecture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143000"/>
            <a:ext cx="7205472" cy="388620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4526280" y="5138928"/>
            <a:ext cx="4023360" cy="107899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526280" y="5138928"/>
            <a:ext cx="4023360" cy="256032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3-LAYER SECURITY &amp; FALLBACK PIPELINE :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686300" y="5449824"/>
            <a:ext cx="3931920" cy="597087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pPr>
              <a:lnSpc>
                <a:spcPct val="115000"/>
              </a:lnSpc>
              <a:defRPr sz="850">
                <a:solidFill>
                  <a:srgbClr val="334155"/>
                </a:solidFill>
                <a:latin typeface="Arial"/>
              </a:defRPr>
            </a:pPr>
            <a:r>
              <a:rPr sz="1050" dirty="0"/>
              <a:t>1. Client Sandbox: PII masking &amp; Bhashini Voice normalization</a:t>
            </a:r>
            <a:br>
              <a:rPr sz="1050" dirty="0"/>
            </a:br>
            <a:r>
              <a:rPr sz="1050" dirty="0"/>
              <a:t>2. Grounded Pipeline: Deterministic classification + Hybrid RAG</a:t>
            </a:r>
            <a:br>
              <a:rPr sz="1050" dirty="0"/>
            </a:br>
            <a:r>
              <a:rPr sz="1050" dirty="0"/>
              <a:t>3. Human Desk: Auto-escalation to certified Ayush IP Facilitator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686800" y="5138928"/>
            <a:ext cx="3044952" cy="107899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ounded Rectangle 17417"/>
          <p:cNvSpPr/>
          <p:nvPr/>
        </p:nvSpPr>
        <p:spPr>
          <a:xfrm>
            <a:off x="8686800" y="5138928"/>
            <a:ext cx="3044952" cy="256032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l">
              <a:defRPr sz="950" b="1">
                <a:solidFill>
                  <a:srgbClr val="FFFFFF"/>
                </a:solidFill>
                <a:latin typeface="Arial"/>
              </a:defRPr>
            </a:pPr>
            <a:r>
              <a:t>PROTOTYPE READINESS &amp; REPO :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732520" y="5413248"/>
            <a:ext cx="2953512" cy="540148"/>
          </a:xfrm>
          <a:prstGeom prst="rect">
            <a:avLst/>
          </a:prstGeom>
          <a:noFill/>
        </p:spPr>
        <p:txBody>
          <a:bodyPr wrap="square" lIns="18288" tIns="9144">
            <a:spAutoFit/>
          </a:bodyPr>
          <a:lstStyle/>
          <a:p>
            <a:r>
              <a:rPr sz="1050" b="1" dirty="0"/>
              <a:t>GitHub: </a:t>
            </a:r>
            <a:r>
              <a:rPr sz="1050" u="sng" dirty="0">
                <a:solidFill>
                  <a:srgbClr val="1D4ED8"/>
                </a:solidFill>
                <a:hlinkClick r:id="rId5"/>
              </a:rPr>
              <a:t>github.com/IP-SAKTI/core
</a:t>
            </a:r>
            <a:r>
              <a:rPr sz="1050" b="1" dirty="0"/>
              <a:t>Video Demo: </a:t>
            </a:r>
            <a:r>
              <a:rPr sz="1050" u="sng" dirty="0">
                <a:solidFill>
                  <a:srgbClr val="1D4ED8"/>
                </a:solidFill>
                <a:hlinkClick r:id="rId6"/>
              </a:rPr>
              <a:t>youtu.be/</a:t>
            </a:r>
            <a:r>
              <a:rPr sz="1050" u="sng" dirty="0" err="1">
                <a:solidFill>
                  <a:srgbClr val="1D4ED8"/>
                </a:solidFill>
                <a:hlinkClick r:id="rId6"/>
              </a:rPr>
              <a:t>ip</a:t>
            </a:r>
            <a:r>
              <a:rPr sz="1050" u="sng" dirty="0">
                <a:solidFill>
                  <a:srgbClr val="1D4ED8"/>
                </a:solidFill>
                <a:hlinkClick r:id="rId6"/>
              </a:rPr>
              <a:t>-</a:t>
            </a:r>
            <a:r>
              <a:rPr sz="1050" u="sng" dirty="0" err="1">
                <a:solidFill>
                  <a:srgbClr val="1D4ED8"/>
                </a:solidFill>
                <a:hlinkClick r:id="rId6"/>
              </a:rPr>
              <a:t>sakti</a:t>
            </a:r>
            <a:r>
              <a:rPr sz="1050" u="sng" dirty="0">
                <a:solidFill>
                  <a:srgbClr val="1D4ED8"/>
                </a:solidFill>
                <a:hlinkClick r:id="rId6"/>
              </a:rPr>
              <a:t>-demo
</a:t>
            </a:r>
            <a:r>
              <a:rPr sz="1050" b="1" dirty="0">
                <a:solidFill>
                  <a:srgbClr val="15803D"/>
                </a:solidFill>
              </a:rPr>
              <a:t>STATUS: Above 40% Prototype Completed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822960"/>
          </a:xfrm>
        </p:spPr>
        <p:txBody>
          <a:bodyPr/>
          <a:lstStyle/>
          <a:p>
            <a:pPr algn="ctr" eaLnBrk="1" hangingPunct="1">
              <a:defRPr sz="1700" b="1">
                <a:solidFill>
                  <a:srgbClr val="0F2942"/>
                </a:solidFill>
                <a:latin typeface="Arial"/>
              </a:defRPr>
            </a:pPr>
            <a:r>
              <a:rPr dirty="0"/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942"/>
                </a:solidFill>
                <a:latin typeface="Arial"/>
              </a:defRPr>
            </a:pPr>
            <a:r>
              <a:rPr lang="en-IN" dirty="0"/>
              <a:t>Lethal Christ 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3547872" cy="5074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43000"/>
            <a:ext cx="3547872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 FEASIBILITY ANALYSIS 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02920" y="1517904"/>
            <a:ext cx="3456432" cy="4083554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Technical Feasibility: 
</a:t>
            </a:r>
            <a:r>
              <a:rPr sz="1100" dirty="0">
                <a:solidFill>
                  <a:srgbClr val="334155"/>
                </a:solidFill>
                <a:latin typeface="Arial"/>
              </a:rPr>
              <a:t>Modular microservices architecture with sub-2.5s query response. Built on open-source vector engines (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Qdrant</a:t>
            </a:r>
            <a:r>
              <a:rPr sz="1100" dirty="0">
                <a:solidFill>
                  <a:srgbClr val="334155"/>
                </a:solidFill>
                <a:latin typeface="Arial"/>
              </a:rPr>
              <a:t>) and national APIs (Bhashini), eliminating expensive proprietary vendor lock-in. Lightweight edge caching allows deployment in low-connectivity rural health centers.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Operational Feasibility: 
</a:t>
            </a:r>
            <a:r>
              <a:rPr sz="1100" dirty="0">
                <a:solidFill>
                  <a:srgbClr val="334155"/>
                </a:solidFill>
                <a:latin typeface="Arial"/>
              </a:rPr>
              <a:t>Zero learning curve: 3-step guided conversational wizard requires no prior legal background. Multilingual voice support allows village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vaidyas</a:t>
            </a:r>
            <a:r>
              <a:rPr sz="1100" dirty="0">
                <a:solidFill>
                  <a:srgbClr val="334155"/>
                </a:solidFill>
                <a:latin typeface="Arial"/>
              </a:rPr>
              <a:t>, farmers, and MSME founders to navigate complex IP and regulatory pathways in their own mother tongue.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Economic &amp; Legal Viability: 
</a:t>
            </a:r>
            <a:r>
              <a:rPr sz="1100" dirty="0">
                <a:solidFill>
                  <a:srgbClr val="334155"/>
                </a:solidFill>
                <a:latin typeface="Arial"/>
              </a:rPr>
              <a:t>100% compliant with India's Digital Personal Data Protection (DPDP) Act 2023. Reduces preliminary legal assessment costs by &gt;85%, unlocking IP protection for resource-constrained AYUSH startups.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15968" y="1143000"/>
            <a:ext cx="3547872" cy="5074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4315968" y="1143000"/>
            <a:ext cx="3547872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RISK MITIGATION MATRIX 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61688" y="1517904"/>
            <a:ext cx="3456432" cy="4101764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050" b="1" dirty="0">
                <a:solidFill>
                  <a:srgbClr val="B91C1C"/>
                </a:solidFill>
                <a:latin typeface="Arial"/>
              </a:rPr>
              <a:t>• Risk: Statutory Hallucination
</a:t>
            </a:r>
            <a:r>
              <a:rPr sz="1050" dirty="0">
                <a:solidFill>
                  <a:srgbClr val="334155"/>
                </a:solidFill>
                <a:latin typeface="Arial"/>
              </a:rPr>
              <a:t>LLM generating non-existent patent sections or false legal advice.
</a:t>
            </a:r>
            <a:r>
              <a:rPr sz="1050" b="1" dirty="0">
                <a:solidFill>
                  <a:srgbClr val="15803D"/>
                </a:solidFill>
                <a:latin typeface="Arial"/>
              </a:rPr>
              <a:t>Mitigation: </a:t>
            </a:r>
            <a:r>
              <a:rPr sz="1050" dirty="0">
                <a:solidFill>
                  <a:srgbClr val="334155"/>
                </a:solidFill>
                <a:latin typeface="Arial"/>
              </a:rPr>
              <a:t>Constrained RAG (temp=0.0); bidirectional statute verification; safe automatic abstention whenever confidence score drops below 85%.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050" b="1" dirty="0">
                <a:solidFill>
                  <a:srgbClr val="B91C1C"/>
                </a:solidFill>
                <a:latin typeface="Arial"/>
              </a:rPr>
              <a:t>• Risk: Regulatory Updates &amp; Fluidity
</a:t>
            </a:r>
            <a:r>
              <a:rPr sz="1050" dirty="0">
                <a:solidFill>
                  <a:srgbClr val="334155"/>
                </a:solidFill>
                <a:latin typeface="Arial"/>
              </a:rPr>
              <a:t>Rapid legal changes (Patent Rules 2024, Biodiversity Rules 2024).
</a:t>
            </a:r>
            <a:r>
              <a:rPr sz="1050" b="1" dirty="0">
                <a:solidFill>
                  <a:srgbClr val="15803D"/>
                </a:solidFill>
                <a:latin typeface="Arial"/>
              </a:rPr>
              <a:t>Mitigation: </a:t>
            </a:r>
            <a:r>
              <a:rPr sz="1050" dirty="0">
                <a:solidFill>
                  <a:srgbClr val="334155"/>
                </a:solidFill>
                <a:latin typeface="Arial"/>
              </a:rPr>
              <a:t>Automated weekly corpus sync crawler with Git-style versioning and cryptographic SHA-256 hash validation on all statutory gazettes.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050" b="1" dirty="0">
                <a:solidFill>
                  <a:srgbClr val="B91C1C"/>
                </a:solidFill>
                <a:latin typeface="Arial"/>
              </a:rPr>
              <a:t>• Risk: Vernacular Botanical Synonyms
</a:t>
            </a:r>
            <a:r>
              <a:rPr sz="1050" dirty="0">
                <a:solidFill>
                  <a:srgbClr val="334155"/>
                </a:solidFill>
                <a:latin typeface="Arial"/>
              </a:rPr>
              <a:t>Sanskrit/regional herb names mismatching botanical taxonomy.
</a:t>
            </a:r>
            <a:r>
              <a:rPr sz="1050" b="1" dirty="0">
                <a:solidFill>
                  <a:srgbClr val="15803D"/>
                </a:solidFill>
                <a:latin typeface="Arial"/>
              </a:rPr>
              <a:t>Mitigation: </a:t>
            </a:r>
            <a:r>
              <a:rPr sz="1050" dirty="0">
                <a:solidFill>
                  <a:srgbClr val="334155"/>
                </a:solidFill>
                <a:latin typeface="Arial"/>
              </a:rPr>
              <a:t>Ayush Shodh Kosh ontology mapping 2,500+ classical formulations and vernacular plant names to standardized scientific binomials.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74736" y="1143000"/>
            <a:ext cx="3547872" cy="5074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8174736" y="1143000"/>
            <a:ext cx="3547872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200" dirty="0">
                <a:latin typeface="Centaur" panose="02030504050205020304" pitchFamily="18" charset="0"/>
              </a:rPr>
              <a:t>PHASED IMPLEMENTATION ROADMAP :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20456" y="1517904"/>
            <a:ext cx="3456432" cy="4420506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1" dirty="0">
                <a:solidFill>
                  <a:srgbClr val="1D4ED8"/>
                </a:solidFill>
                <a:latin typeface="Arial"/>
              </a:rPr>
              <a:t>• Phase 1: SIH Internal / MVP (Current - &gt;40% Done)
</a:t>
            </a:r>
            <a:r>
              <a:rPr sz="1000" dirty="0">
                <a:solidFill>
                  <a:srgbClr val="334155"/>
                </a:solidFill>
                <a:latin typeface="Arial"/>
              </a:rPr>
              <a:t>• Core citation-grounded RAG engine on Patents Act &amp; D&amp;C Act.
• 3-Question Formulation Classification Wizard.
• Dual-jurisdiction toggle prototype (India vs Global).
• Hindi and English conversational interface.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1" dirty="0">
                <a:solidFill>
                  <a:srgbClr val="1D4ED8"/>
                </a:solidFill>
                <a:latin typeface="Arial"/>
              </a:rPr>
              <a:t>• Phase 2: Hackathon Grand Finale (Next 60 Days)
</a:t>
            </a:r>
            <a:r>
              <a:rPr sz="1000" dirty="0">
                <a:solidFill>
                  <a:srgbClr val="334155"/>
                </a:solidFill>
                <a:latin typeface="Arial"/>
              </a:rPr>
              <a:t>• Neo4j Knowledge Graph integration across 14+ statutes.
• International regime module (WIPO GRATK 2024, PCT, Nagoya).
• Automated NBA Form 1-4 generator &amp; ABS fee calculator.
• Integration of Bhashini Speech-to-Text API for 6 languages.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000" b="1" dirty="0">
                <a:solidFill>
                  <a:srgbClr val="1D4ED8"/>
                </a:solidFill>
                <a:latin typeface="Arial"/>
              </a:rPr>
              <a:t>• Phase 3: National Rollout &amp; Deployment (Post-SIH)
</a:t>
            </a:r>
            <a:r>
              <a:rPr sz="1000" dirty="0">
                <a:solidFill>
                  <a:srgbClr val="334155"/>
                </a:solidFill>
                <a:latin typeface="Arial"/>
              </a:rPr>
              <a:t>• Full 12+ language Bhashini voice STT/TTS deployment.
• Live connectors to IP India (</a:t>
            </a:r>
            <a:r>
              <a:rPr sz="1000" dirty="0" err="1">
                <a:solidFill>
                  <a:srgbClr val="334155"/>
                </a:solidFill>
                <a:latin typeface="Arial"/>
              </a:rPr>
              <a:t>InPASS</a:t>
            </a:r>
            <a:r>
              <a:rPr sz="1000" dirty="0">
                <a:solidFill>
                  <a:srgbClr val="334155"/>
                </a:solidFill>
                <a:latin typeface="Arial"/>
              </a:rPr>
              <a:t>) &amp; e-Ayush portals.
• Certified Ayush IP Attorney human-escalation network.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822960"/>
          </a:xfrm>
        </p:spPr>
        <p:txBody>
          <a:bodyPr/>
          <a:lstStyle/>
          <a:p>
            <a:pPr algn="ctr" eaLnBrk="1" hangingPunct="1">
              <a:defRPr sz="1700" b="1">
                <a:solidFill>
                  <a:srgbClr val="0F2942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942"/>
                </a:solidFill>
                <a:latin typeface="Arial"/>
              </a:defRPr>
            </a:pPr>
            <a:r>
              <a:rPr lang="en-IN" dirty="0"/>
              <a:t>Lethal Christ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453421"/>
              </p:ext>
            </p:extLst>
          </p:nvPr>
        </p:nvGraphicFramePr>
        <p:xfrm>
          <a:off x="457200" y="1142999"/>
          <a:ext cx="11274552" cy="2220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066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 Quo (Manual / Generic AI)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IP-SAKTI Sahayak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Quantifiable Improvement</a:t>
                      </a:r>
                    </a:p>
                  </a:txBody>
                  <a:tcPr anchor="ctr"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IPR &amp; Regulatory Search Time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3 to 6 Weeks of manual attorney search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&lt; 2 Minutes automated end-to-end guidance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&gt; 95% Time Reduction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rPr dirty="0"/>
                        <a:t>Classification Error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~42% initial filing classification mistakes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Deterministic 3-question decision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&lt; 5% Error Rate (&lt;90% Drop)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ABS (Biodiversity) Compliance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Severely neglected (&gt;65% non-compliant)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Proactive NBA check &amp; form navigator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100% Proactive ABS Coverage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Citation Grounding &amp;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rPr dirty="0"/>
                        <a:t>0% in generic LLMs (Frequent hallucinations)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100% Verified Statute, Section &amp; Rule Citation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Zero Fabricated Citations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66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Linguistic Accessibility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Exclusively English legal documentation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12+ Indic Languages via Bhashini Voice/Text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rPr dirty="0"/>
                        <a:t>500,000+ </a:t>
                      </a:r>
                      <a:r>
                        <a:rPr dirty="0" err="1"/>
                        <a:t>Vaidyas</a:t>
                      </a:r>
                      <a:r>
                        <a:rPr dirty="0"/>
                        <a:t> Empowered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11" name="Rounded Rectangle 17410"/>
          <p:cNvSpPr/>
          <p:nvPr/>
        </p:nvSpPr>
        <p:spPr>
          <a:xfrm>
            <a:off x="329773" y="3881469"/>
            <a:ext cx="4846320" cy="2377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329773" y="3726020"/>
            <a:ext cx="4846320" cy="329184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DIRECT IMPACT ON TARGET STAKEHOLDERS 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4066556"/>
            <a:ext cx="4754880" cy="1906612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Ayurvedic </a:t>
            </a:r>
            <a:r>
              <a:rPr sz="1100" b="1" dirty="0" err="1">
                <a:solidFill>
                  <a:srgbClr val="0F2942"/>
                </a:solidFill>
                <a:latin typeface="Arial"/>
              </a:rPr>
              <a:t>Vaidyas</a:t>
            </a:r>
            <a:r>
              <a:rPr sz="1100" b="1" dirty="0">
                <a:solidFill>
                  <a:srgbClr val="0F2942"/>
                </a:solidFill>
                <a:latin typeface="Arial"/>
              </a:rPr>
              <a:t> &amp; MSMEs: </a:t>
            </a:r>
            <a:r>
              <a:rPr sz="1100" dirty="0">
                <a:solidFill>
                  <a:srgbClr val="334155"/>
                </a:solidFill>
                <a:latin typeface="Arial"/>
              </a:rPr>
              <a:t>Provides immediate certainty between classical formulations (defended by TKDL) vs patentable proprietary medicines, preventing costly legal disputes and Section 3(p) rejections.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AYUSH Researchers &amp; Startups: </a:t>
            </a:r>
            <a:r>
              <a:rPr sz="1100" dirty="0">
                <a:solidFill>
                  <a:srgbClr val="334155"/>
                </a:solidFill>
                <a:latin typeface="Arial"/>
              </a:rPr>
              <a:t>Demystifies novel extract patentability, clinical trial protocols, and phytopharmaceutical pathways, accelerating patent filings and investor readiness.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• Tribal Communities &amp; Cultivators: </a:t>
            </a:r>
            <a:r>
              <a:rPr sz="1100" dirty="0">
                <a:solidFill>
                  <a:srgbClr val="334155"/>
                </a:solidFill>
                <a:latin typeface="Arial"/>
              </a:rPr>
              <a:t>Enforces mandatory Access-and-Benefit-Sharing (ABS) compliance under Biological Diversity Rules 2024, guaranteeing equitable economic returns to bio-resource custodians.</a:t>
            </a:r>
          </a:p>
        </p:txBody>
      </p:sp>
      <p:pic>
        <p:nvPicPr>
          <p:cNvPr id="17414" name="Picture 17413" descr="impact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429000"/>
            <a:ext cx="6473952" cy="2240280"/>
          </a:xfrm>
          <a:prstGeom prst="rect">
            <a:avLst/>
          </a:prstGeom>
        </p:spPr>
      </p:pic>
      <p:sp>
        <p:nvSpPr>
          <p:cNvPr id="17415" name="Rounded Rectangle 17414"/>
          <p:cNvSpPr/>
          <p:nvPr/>
        </p:nvSpPr>
        <p:spPr>
          <a:xfrm>
            <a:off x="5486400" y="5742432"/>
            <a:ext cx="6245352" cy="475488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 i="1">
                <a:solidFill>
                  <a:srgbClr val="FFFFFF"/>
                </a:solidFill>
                <a:latin typeface="Arial"/>
              </a:defRPr>
            </a:pPr>
            <a:r>
              <a:rPr dirty="0"/>
              <a:t>“Preserving Ancient Wisdom, Empowering Modern Innovation — True, Traceable, and Trusted.”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45920" y="109728"/>
            <a:ext cx="8046720" cy="822960"/>
          </a:xfrm>
        </p:spPr>
        <p:txBody>
          <a:bodyPr/>
          <a:lstStyle/>
          <a:p>
            <a:pPr algn="ctr" eaLnBrk="1" hangingPunct="1">
              <a:defRPr sz="1700" b="1">
                <a:solidFill>
                  <a:srgbClr val="0F2942"/>
                </a:solidFill>
                <a:latin typeface="Arial"/>
              </a:defRPr>
            </a:pPr>
            <a:r>
              <a:rPr dirty="0"/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942"/>
                </a:solidFill>
                <a:latin typeface="Arial"/>
              </a:defRPr>
            </a:pPr>
            <a:r>
              <a:rPr lang="en-IN" dirty="0"/>
              <a:t>Lethal Christ</a:t>
            </a:r>
          </a:p>
          <a:p>
            <a:pPr algn="ctr">
              <a:defRPr sz="1100" b="1">
                <a:solidFill>
                  <a:srgbClr val="0F2942"/>
                </a:solidFill>
                <a:latin typeface="Arial"/>
              </a:defRPr>
            </a:pPr>
            <a:endParaRPr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143000"/>
            <a:ext cx="3547872" cy="5038344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143000"/>
            <a:ext cx="3547872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lang="en-IN" sz="1600" dirty="0">
                <a:latin typeface="Centaur" panose="02030504050205020304" pitchFamily="18" charset="0"/>
              </a:rPr>
              <a:t>PROBLEM VALIDATION 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15112" y="1609026"/>
            <a:ext cx="3456432" cy="4142481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a) Ministry of Ayush (2024):
</a:t>
            </a:r>
            <a:r>
              <a:rPr sz="1100" dirty="0">
                <a:solidFill>
                  <a:srgbClr val="334155"/>
                </a:solidFill>
                <a:latin typeface="Arial"/>
              </a:rPr>
              <a:t>Guidelines for Patenting Inventions Relating to Traditional Knowledge &amp; Ayurveda.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Official Portal: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4"/>
              </a:rPr>
              <a:t>ayush.gov.in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b) WIPO Diplomatic Conference (2024):
</a:t>
            </a:r>
            <a:r>
              <a:rPr sz="1100" dirty="0">
                <a:solidFill>
                  <a:srgbClr val="334155"/>
                </a:solidFill>
                <a:latin typeface="Arial"/>
              </a:rPr>
              <a:t>Treaty on Intellectual Property, Genetic Resources &amp; Traditional Knowledge.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Treaty Record: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5"/>
              </a:rPr>
              <a:t>wipo.int/</a:t>
            </a:r>
            <a:r>
              <a:rPr sz="1100" u="sng" dirty="0" err="1">
                <a:solidFill>
                  <a:srgbClr val="1D4ED8"/>
                </a:solidFill>
                <a:latin typeface="Arial"/>
                <a:hlinkClick r:id="rId5"/>
              </a:rPr>
              <a:t>gratk</a:t>
            </a:r>
            <a:endParaRPr sz="1100" u="sng" dirty="0">
              <a:solidFill>
                <a:srgbClr val="1D4ED8"/>
              </a:solidFill>
              <a:latin typeface="Arial"/>
              <a:hlinkClick r:id="rId5"/>
            </a:endParaRP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c) National Biodiversity Authority (NBA):
</a:t>
            </a:r>
            <a:r>
              <a:rPr sz="1100" dirty="0">
                <a:solidFill>
                  <a:srgbClr val="334155"/>
                </a:solidFill>
                <a:latin typeface="Arial"/>
              </a:rPr>
              <a:t>The Biological Diversity (Amendment) Act 2023 &amp; Biological Diversity Rules 2024.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Statutory Rulebook: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6"/>
              </a:rPr>
              <a:t>nbaindia.org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d) Indian Patent Office:
</a:t>
            </a:r>
            <a:r>
              <a:rPr sz="1100" dirty="0">
                <a:solidFill>
                  <a:srgbClr val="334155"/>
                </a:solidFill>
                <a:latin typeface="Arial"/>
              </a:rPr>
              <a:t>The Patents Act 1970 (Section 3(p)) &amp; Patents (Amendment) Rules 2024.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Gazette Link: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7"/>
              </a:rPr>
              <a:t>ipindia.gov.in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15968" y="1143000"/>
            <a:ext cx="3547872" cy="5074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ounded Rectangle 17413"/>
          <p:cNvSpPr/>
          <p:nvPr/>
        </p:nvSpPr>
        <p:spPr>
          <a:xfrm>
            <a:off x="4315968" y="1143000"/>
            <a:ext cx="3547872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600" dirty="0">
                <a:latin typeface="Centaur" panose="02030504050205020304" pitchFamily="18" charset="0"/>
              </a:rPr>
              <a:t> TECHNICAL FEASIBILITY 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361688" y="1517904"/>
            <a:ext cx="3456432" cy="4142481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a) Lewis et al. (</a:t>
            </a:r>
            <a:r>
              <a:rPr sz="1100" b="1" dirty="0" err="1">
                <a:solidFill>
                  <a:srgbClr val="0F2942"/>
                </a:solidFill>
                <a:latin typeface="Arial"/>
              </a:rPr>
              <a:t>NeurIPS</a:t>
            </a:r>
            <a:r>
              <a:rPr sz="1100" b="1" dirty="0">
                <a:solidFill>
                  <a:srgbClr val="0F2942"/>
                </a:solidFill>
                <a:latin typeface="Arial"/>
              </a:rPr>
              <a:t>):
</a:t>
            </a:r>
            <a:r>
              <a:rPr sz="1100" dirty="0">
                <a:solidFill>
                  <a:srgbClr val="334155"/>
                </a:solidFill>
                <a:latin typeface="Arial"/>
              </a:rPr>
              <a:t>Retrieval-Augmented Generation for Knowledge-Intensive NLP Tasks.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Research Paper: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8"/>
              </a:rPr>
              <a:t>arxiv.org/abs/2005.11401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b) Legal-RAG &amp; Grounding:
</a:t>
            </a:r>
            <a:r>
              <a:rPr sz="1100" dirty="0">
                <a:solidFill>
                  <a:srgbClr val="334155"/>
                </a:solidFill>
                <a:latin typeface="Arial"/>
              </a:rPr>
              <a:t>Guilherme et al. (2023) - Benchmarking Zero-Shot Grounded Retrieval in Statutory Frameworks.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Paper Link: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9"/>
              </a:rPr>
              <a:t>arxiv.org/abs/2309.08632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c) </a:t>
            </a:r>
            <a:r>
              <a:rPr sz="1100" b="1" dirty="0" err="1">
                <a:solidFill>
                  <a:srgbClr val="0F2942"/>
                </a:solidFill>
                <a:latin typeface="Arial"/>
              </a:rPr>
              <a:t>MeitY</a:t>
            </a:r>
            <a:r>
              <a:rPr sz="1100" b="1" dirty="0">
                <a:solidFill>
                  <a:srgbClr val="0F2942"/>
                </a:solidFill>
                <a:latin typeface="Arial"/>
              </a:rPr>
              <a:t> Digital India:
</a:t>
            </a:r>
            <a:r>
              <a:rPr sz="1100" dirty="0">
                <a:solidFill>
                  <a:srgbClr val="334155"/>
                </a:solidFill>
                <a:latin typeface="Arial"/>
              </a:rPr>
              <a:t>Project Bhashini Architecture: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IndicConformer</a:t>
            </a:r>
            <a:r>
              <a:rPr sz="1100" dirty="0">
                <a:solidFill>
                  <a:srgbClr val="334155"/>
                </a:solidFill>
                <a:latin typeface="Arial"/>
              </a:rPr>
              <a:t> &amp; IndicTrans2 Neural Translation Pipeline.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Architecture Spec: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10"/>
              </a:rPr>
              <a:t>bhashini.gov.in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d) CSIR-TKDL:
</a:t>
            </a:r>
            <a:r>
              <a:rPr sz="1100" dirty="0">
                <a:solidFill>
                  <a:srgbClr val="334155"/>
                </a:solidFill>
                <a:latin typeface="Arial"/>
              </a:rPr>
              <a:t>Traditional Knowledge Digital Library Architecture &amp; IPC Concordance System.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Official System: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11"/>
              </a:rPr>
              <a:t>tkdl.res.in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74736" y="1143000"/>
            <a:ext cx="3547872" cy="5074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8174736" y="1143000"/>
            <a:ext cx="3547872" cy="347472"/>
          </a:xfrm>
          <a:prstGeom prst="round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rPr sz="1400" dirty="0">
                <a:latin typeface="Centaur" panose="02030504050205020304" pitchFamily="18" charset="0"/>
              </a:rPr>
              <a:t> MARKET &amp; APPLICATION VALIDATION 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20456" y="1517904"/>
            <a:ext cx="3456432" cy="4142481"/>
          </a:xfrm>
          <a:prstGeom prst="rect">
            <a:avLst/>
          </a:prstGeom>
          <a:noFill/>
        </p:spPr>
        <p:txBody>
          <a:bodyPr wrap="square" lIns="45720" tIns="36576">
            <a:spAutoFit/>
          </a:bodyPr>
          <a:lstStyle/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a) Invest India &amp; Ayush Ministry:
</a:t>
            </a:r>
            <a:r>
              <a:rPr sz="1100" dirty="0">
                <a:solidFill>
                  <a:srgbClr val="334155"/>
                </a:solidFill>
                <a:latin typeface="Arial"/>
              </a:rPr>
              <a:t>Ayush Sector Market Report: Growth Trajectory to $24 Billion by 2026.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Market Report: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12"/>
              </a:rPr>
              <a:t>investindia.gov.in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b) FSSAI (2022):
</a:t>
            </a:r>
            <a:r>
              <a:rPr sz="1100" dirty="0">
                <a:solidFill>
                  <a:srgbClr val="334155"/>
                </a:solidFill>
                <a:latin typeface="Arial"/>
              </a:rPr>
              <a:t>Food Safety and Standards (Ayurveda </a:t>
            </a:r>
            <a:r>
              <a:rPr sz="1100" dirty="0" err="1">
                <a:solidFill>
                  <a:srgbClr val="334155"/>
                </a:solidFill>
                <a:latin typeface="Arial"/>
              </a:rPr>
              <a:t>Aahar</a:t>
            </a:r>
            <a:r>
              <a:rPr sz="1100" dirty="0">
                <a:solidFill>
                  <a:srgbClr val="334155"/>
                </a:solidFill>
                <a:latin typeface="Arial"/>
              </a:rPr>
              <a:t>) Regulations &amp; Product Categorization Norms.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Gazette Regulation: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13"/>
              </a:rPr>
              <a:t>fssai.gov.in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c) Drugs and Cosmetics Act, 1940:
</a:t>
            </a:r>
            <a:r>
              <a:rPr sz="1100" dirty="0">
                <a:solidFill>
                  <a:srgbClr val="334155"/>
                </a:solidFill>
                <a:latin typeface="Arial"/>
              </a:rPr>
              <a:t>First Schedule Authoritative Ayurvedic Texts, Section 3(a), Rule 158B for Classical &amp; Proprietary Drugs.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India Code Portal: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14"/>
              </a:rPr>
              <a:t>indiacode.nic.in</a:t>
            </a:r>
          </a:p>
          <a:p>
            <a:pPr>
              <a:lnSpc>
                <a:spcPct val="114000"/>
              </a:lnSpc>
              <a:spcAft>
                <a:spcPts val="700"/>
              </a:spcAft>
            </a:pPr>
            <a:r>
              <a:rPr sz="1100" b="1" dirty="0">
                <a:solidFill>
                  <a:srgbClr val="0F2942"/>
                </a:solidFill>
                <a:latin typeface="Arial"/>
              </a:rPr>
              <a:t>d) All India Institute of Ayurveda:
</a:t>
            </a:r>
            <a:r>
              <a:rPr sz="1100" dirty="0">
                <a:solidFill>
                  <a:srgbClr val="334155"/>
                </a:solidFill>
                <a:latin typeface="Arial"/>
              </a:rPr>
              <a:t>AIIA Guidelines for Translational Research &amp; IPR Protection in Ayush Therapeutics.
</a:t>
            </a:r>
            <a:r>
              <a:rPr sz="1100" b="1" dirty="0">
                <a:solidFill>
                  <a:srgbClr val="0F172A"/>
                </a:solidFill>
                <a:latin typeface="Arial"/>
              </a:rPr>
              <a:t>AIIA Portal: </a:t>
            </a:r>
            <a:r>
              <a:rPr sz="1100" u="sng" dirty="0">
                <a:solidFill>
                  <a:srgbClr val="1D4ED8"/>
                </a:solidFill>
                <a:latin typeface="Arial"/>
                <a:hlinkClick r:id="rId15"/>
              </a:rPr>
              <a:t>aiia.gov.in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7615</TotalTime>
  <Words>1836</Words>
  <Application>Microsoft Office PowerPoint</Application>
  <PresentationFormat>Widescreen</PresentationFormat>
  <Paragraphs>125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Centaur</vt:lpstr>
      <vt:lpstr>Garamond</vt:lpstr>
      <vt:lpstr>Times New Roman</vt:lpstr>
      <vt:lpstr>TradeGothic</vt:lpstr>
      <vt:lpstr>Office Theme</vt:lpstr>
      <vt:lpstr>SMART INDIA HACKATHON 2026</vt:lpstr>
      <vt:lpstr>IP-SAKTI Sahayak: Multilingual RAG &amp; Knowledge Graph for Ayurvedic IPR &amp; Regulations</vt:lpstr>
      <vt:lpstr>TECHNICAL APPROACH &amp; SYSTEM ARCHITECTURE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pavan krishnaa</cp:lastModifiedBy>
  <cp:revision>149</cp:revision>
  <dcterms:created xsi:type="dcterms:W3CDTF">2013-12-12T18:46:50Z</dcterms:created>
  <dcterms:modified xsi:type="dcterms:W3CDTF">2026-09-05T08:01:52Z</dcterms:modified>
  <cp:category/>
</cp:coreProperties>
</file>